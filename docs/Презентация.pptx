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952B2B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9EB04-B816-4198-AD00-B4F70F704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C7DE35-9090-47AF-A82C-2DA89CF3C4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B8E726-21BD-451F-910A-F7DCE6A1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A9B62A-1DF9-48E4-8971-83A4005A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A67901-A8A0-42CE-8845-61B9A755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082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1A289-AC85-490E-8E2C-A90258EE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427DB4-6920-447A-A6A1-9D508467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13689C-282E-45EF-ABF2-AAEF4E3D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F83E0D-4433-46D4-98C5-B66FCE37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EF83B0-2020-4A10-BC57-DCC9709CC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231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806DB-2D79-4B35-B716-A905D74B6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A4F1DB-B510-4F0F-BFC5-EE70F3523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0A45C8-4A19-46B9-B32B-C10BE110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2A5CD2-6F0E-4C25-B146-AA3EDEAA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FB123-9D19-49AB-9937-9DDE71FF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51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B346B-B1CF-471F-B7A6-7AB0BAE6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7BD8BA-EC6F-4BE6-8684-3E41B5D1C4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174C03A-A289-40BE-8181-0E412B3AA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970B9F-F479-4C7F-9901-1808F6DD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05209C-9BDC-42DE-953D-0CE328D2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269862-9AF4-466B-8DEC-2E0AC208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86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BE0F59-EB8E-4EC8-9F7C-8D9CEC6B4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5C8886-189A-4B33-934A-5B61CCB87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78C9A2-9BEA-422B-8987-8CAA208AF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0E5E11-26AA-42A9-882E-B221E5E46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EE6F28D-B2C7-495D-A792-EEB2A26BA4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05AFFF1-655A-44ED-937B-9155B048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7AE1E2-82F3-49AA-B0A1-DAB8F893A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B3CEA5-5317-4F76-B810-111E33621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00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75A5F-DFE3-4226-AE08-B29FEA8D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CDF93A-5E19-44C0-A90C-308847C68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AE2316B-0579-40C2-AF92-841F3926B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8AE0A8-52B5-470C-AF75-FE6B124F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359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B6820BF-61A1-4880-A758-2018289A5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38860D-163B-443A-BF7C-4F93AE372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17C1FE-97A6-40EF-BC7F-3C002504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742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9B06EB-EFE6-4A9C-99AE-C89000136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43A64F-1564-46AA-80C4-439BB01AE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F530B7-EB89-4BA3-8407-E2849A67E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08B07A-07A6-487D-97C8-02946EFC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945C6C-7276-4D86-9C39-0F9868466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9C8DCD-34B2-401E-B17D-E0CBC5CC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098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1D161-0E3F-4E4F-8B9C-5B968777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2D8FBB-D589-473A-BA74-E3116F27B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D2873D-5476-4A62-99C5-0CC4833C8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42E26C-2560-418D-AC4A-7388300E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F5149B-CA82-4684-9944-A4493BD3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650711-61F7-4B9D-A9D8-B5FA6A0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787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C73B8A-AD6F-4578-8A67-8EB3D9EF3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6F62B2-C8E7-4A7A-9193-8AAB96168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908A7D-219D-4AFA-9C36-C407B650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35BC4F-096F-4FF7-AD2F-E97E4A6A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56FA5B-70BE-46AE-AAA6-0F78DB44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86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AB1A1C9-86E8-4420-95FD-C213AAF36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806163-1735-492F-88A5-338B1BA34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9CE7D3-A06A-45A3-BE76-0C2CAB467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89B035-EF32-432D-B5EB-6138DACC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B88A64-F73D-4E4C-83BB-C1730EAB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1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1B46A-EA39-46A9-B5D4-68642AA9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E84F72-FCB1-403D-8920-585719AFD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E4CA92-2FB4-4859-BEE1-2EB9E8D9F5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D1E90-37FA-48BF-9952-F275859A3A79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F58658-B08F-4C40-8CD1-378516FC0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A43DCB-E384-45E6-A220-C1EBBE57F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3653B-46AC-4284-914D-C7781DD635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32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48940D-682F-46DC-BC2C-E8925B075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58" y="1064159"/>
            <a:ext cx="4555071" cy="45550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6D9172-8E0A-41CC-911D-06333AB5C847}"/>
              </a:ext>
            </a:extLst>
          </p:cNvPr>
          <p:cNvSpPr txBox="1"/>
          <p:nvPr/>
        </p:nvSpPr>
        <p:spPr>
          <a:xfrm>
            <a:off x="363158" y="5803002"/>
            <a:ext cx="10022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Шашки по сети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00A08-7694-456A-A070-D3CFEED87C9C}"/>
              </a:ext>
            </a:extLst>
          </p:cNvPr>
          <p:cNvSpPr txBox="1"/>
          <p:nvPr/>
        </p:nvSpPr>
        <p:spPr>
          <a:xfrm>
            <a:off x="292137" y="418722"/>
            <a:ext cx="5262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>
                <a:solidFill>
                  <a:srgbClr val="F2F2F2"/>
                </a:solidFill>
                <a:latin typeface="Actay Wide Bd" pitchFamily="50" charset="-52"/>
              </a:rPr>
              <a:t>Проект по учебной практике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B07B5-311A-4F90-B64D-BDB570AC8984}"/>
              </a:ext>
            </a:extLst>
          </p:cNvPr>
          <p:cNvSpPr txBox="1"/>
          <p:nvPr/>
        </p:nvSpPr>
        <p:spPr>
          <a:xfrm>
            <a:off x="5818660" y="2711648"/>
            <a:ext cx="6010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Разработали студенты 3 курса,</a:t>
            </a:r>
            <a:r>
              <a:rPr lang="en-US" dirty="0">
                <a:solidFill>
                  <a:srgbClr val="F2F2F2"/>
                </a:solidFill>
                <a:latin typeface="Actay Light" pitchFamily="50" charset="-52"/>
              </a:rPr>
              <a:t> </a:t>
            </a: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группы РПО 23/2, колледжа «</a:t>
            </a:r>
            <a:r>
              <a:rPr lang="en-US" dirty="0">
                <a:solidFill>
                  <a:srgbClr val="F2F2F2"/>
                </a:solidFill>
                <a:latin typeface="Actay Light" pitchFamily="50" charset="-52"/>
              </a:rPr>
              <a:t>IT TOP College</a:t>
            </a: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»: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80062-3EDE-489D-BA6A-0DDEA9F93127}"/>
              </a:ext>
            </a:extLst>
          </p:cNvPr>
          <p:cNvSpPr txBox="1"/>
          <p:nvPr/>
        </p:nvSpPr>
        <p:spPr>
          <a:xfrm>
            <a:off x="9339058" y="3357979"/>
            <a:ext cx="2489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000" dirty="0">
                <a:solidFill>
                  <a:srgbClr val="F2F2F2"/>
                </a:solidFill>
                <a:latin typeface="Actay Wide Bd" pitchFamily="50" charset="-52"/>
              </a:rPr>
              <a:t>Соколов Иван</a:t>
            </a:r>
            <a:br>
              <a:rPr lang="ru-RU" sz="2000" dirty="0">
                <a:solidFill>
                  <a:srgbClr val="F2F2F2"/>
                </a:solidFill>
                <a:latin typeface="Actay Wide Bd" pitchFamily="50" charset="-52"/>
              </a:rPr>
            </a:br>
            <a:r>
              <a:rPr lang="ru-RU" sz="2000" dirty="0" err="1">
                <a:solidFill>
                  <a:srgbClr val="F2F2F2"/>
                </a:solidFill>
                <a:latin typeface="Actay Wide Bd" pitchFamily="50" charset="-52"/>
              </a:rPr>
              <a:t>Мучаев</a:t>
            </a:r>
            <a:r>
              <a:rPr lang="ru-RU" sz="2000" dirty="0">
                <a:solidFill>
                  <a:srgbClr val="F2F2F2"/>
                </a:solidFill>
                <a:latin typeface="Actay Wide Bd" pitchFamily="50" charset="-52"/>
              </a:rPr>
              <a:t> </a:t>
            </a:r>
            <a:r>
              <a:rPr lang="ru-RU" sz="2000" dirty="0" err="1">
                <a:solidFill>
                  <a:srgbClr val="F2F2F2"/>
                </a:solidFill>
                <a:latin typeface="Actay Wide Bd" pitchFamily="50" charset="-52"/>
              </a:rPr>
              <a:t>Санчир</a:t>
            </a:r>
            <a:endParaRPr lang="ru-RU" sz="2000" dirty="0">
              <a:solidFill>
                <a:srgbClr val="F2F2F2"/>
              </a:solidFill>
              <a:latin typeface="Actay Wide Bd" pitchFamily="5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27C4B-5A46-4BA9-A357-97F68698B1AF}"/>
              </a:ext>
            </a:extLst>
          </p:cNvPr>
          <p:cNvSpPr txBox="1"/>
          <p:nvPr/>
        </p:nvSpPr>
        <p:spPr>
          <a:xfrm>
            <a:off x="10387422" y="470827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Тула, 2026</a:t>
            </a:r>
          </a:p>
        </p:txBody>
      </p:sp>
    </p:spTree>
    <p:extLst>
      <p:ext uri="{BB962C8B-B14F-4D97-AF65-F5344CB8AC3E}">
        <p14:creationId xmlns:p14="http://schemas.microsoft.com/office/powerpoint/2010/main" val="65571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3A5F8D-EF6F-4CFD-BC18-3960205DDB22}"/>
              </a:ext>
            </a:extLst>
          </p:cNvPr>
          <p:cNvSpPr txBox="1"/>
          <p:nvPr/>
        </p:nvSpPr>
        <p:spPr>
          <a:xfrm>
            <a:off x="345403" y="289969"/>
            <a:ext cx="10022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Цель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D409C-6092-470B-895F-E2BD094A2CE5}"/>
              </a:ext>
            </a:extLst>
          </p:cNvPr>
          <p:cNvSpPr txBox="1"/>
          <p:nvPr/>
        </p:nvSpPr>
        <p:spPr>
          <a:xfrm>
            <a:off x="345403" y="1162975"/>
            <a:ext cx="11470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Проект разработан для демонстрации полного жизненного цикла разработки ПО: от требований до тестирования и пользовательской документации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E0072-D6EA-4124-865E-24EC999D908F}"/>
              </a:ext>
            </a:extLst>
          </p:cNvPr>
          <p:cNvSpPr txBox="1"/>
          <p:nvPr/>
        </p:nvSpPr>
        <p:spPr>
          <a:xfrm>
            <a:off x="345403" y="5921700"/>
            <a:ext cx="101657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Основная цель - создать приложение, где два игрока могут играть в шашки через локальное TCP-соединение.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9349BD6-4746-472B-8AF1-8F94E94BFFF1}"/>
              </a:ext>
            </a:extLst>
          </p:cNvPr>
          <p:cNvSpPr/>
          <p:nvPr/>
        </p:nvSpPr>
        <p:spPr>
          <a:xfrm>
            <a:off x="345403" y="1941397"/>
            <a:ext cx="11470776" cy="64633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ctay Wide Bd" pitchFamily="50" charset="-52"/>
              </a:rPr>
              <a:t>Требования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FDB6251-8F7D-4AF7-B5D4-76C785BCA0D8}"/>
              </a:ext>
            </a:extLst>
          </p:cNvPr>
          <p:cNvSpPr/>
          <p:nvPr/>
        </p:nvSpPr>
        <p:spPr>
          <a:xfrm>
            <a:off x="345403" y="2741867"/>
            <a:ext cx="11470776" cy="646331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ctay Wide Bd" pitchFamily="50" charset="-52"/>
              </a:rPr>
              <a:t>Проектирование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EA68AD6-2E7F-4D03-89D8-2E3AFACED000}"/>
              </a:ext>
            </a:extLst>
          </p:cNvPr>
          <p:cNvSpPr/>
          <p:nvPr/>
        </p:nvSpPr>
        <p:spPr>
          <a:xfrm>
            <a:off x="345403" y="3542337"/>
            <a:ext cx="11470776" cy="64633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ctay Wide Bd" pitchFamily="50" charset="-52"/>
              </a:rPr>
              <a:t>Код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9F15D40-F2C3-4AB6-9FD7-14247EE5D827}"/>
              </a:ext>
            </a:extLst>
          </p:cNvPr>
          <p:cNvSpPr/>
          <p:nvPr/>
        </p:nvSpPr>
        <p:spPr>
          <a:xfrm>
            <a:off x="345403" y="4342807"/>
            <a:ext cx="11470776" cy="646331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ctay Wide Bd" pitchFamily="50" charset="-52"/>
              </a:rPr>
              <a:t>Тестирование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5CFF6BA-2D2C-4205-AB3D-5D72CD172450}"/>
              </a:ext>
            </a:extLst>
          </p:cNvPr>
          <p:cNvSpPr/>
          <p:nvPr/>
        </p:nvSpPr>
        <p:spPr>
          <a:xfrm>
            <a:off x="345403" y="5143277"/>
            <a:ext cx="11470776" cy="64633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ctay Wide Bd" pitchFamily="50" charset="-52"/>
              </a:rPr>
              <a:t>Документирование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4DA8CDD-73D5-492F-8463-D5760C6D5D09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80791" y="2587728"/>
            <a:ext cx="0" cy="154139"/>
          </a:xfrm>
          <a:prstGeom prst="straightConnector1">
            <a:avLst/>
          </a:prstGeom>
          <a:ln>
            <a:solidFill>
              <a:srgbClr val="F2F2F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715A5E11-2D32-4CA7-86DE-C5A75CA538C4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6080791" y="3388198"/>
            <a:ext cx="0" cy="154139"/>
          </a:xfrm>
          <a:prstGeom prst="straightConnector1">
            <a:avLst/>
          </a:prstGeom>
          <a:ln>
            <a:solidFill>
              <a:srgbClr val="F2F2F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29B0E6E6-48BB-46E5-AE3A-A4DFBF81C8D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6080791" y="4188668"/>
            <a:ext cx="0" cy="154139"/>
          </a:xfrm>
          <a:prstGeom prst="straightConnector1">
            <a:avLst/>
          </a:prstGeom>
          <a:ln>
            <a:solidFill>
              <a:srgbClr val="F2F2F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3D6F934D-F359-488B-A3E7-DA983CB5C0CC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080791" y="4989138"/>
            <a:ext cx="0" cy="154139"/>
          </a:xfrm>
          <a:prstGeom prst="straightConnector1">
            <a:avLst/>
          </a:prstGeom>
          <a:ln>
            <a:solidFill>
              <a:srgbClr val="F2F2F2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70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DD991F-D73C-4C46-A2E3-A0ACB2FA334D}"/>
              </a:ext>
            </a:extLst>
          </p:cNvPr>
          <p:cNvSpPr txBox="1"/>
          <p:nvPr/>
        </p:nvSpPr>
        <p:spPr>
          <a:xfrm>
            <a:off x="345403" y="289969"/>
            <a:ext cx="100228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назначение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B3A20-DE65-429A-BA44-3FE4988A3021}"/>
              </a:ext>
            </a:extLst>
          </p:cNvPr>
          <p:cNvSpPr txBox="1"/>
          <p:nvPr/>
        </p:nvSpPr>
        <p:spPr>
          <a:xfrm flipH="1">
            <a:off x="345403" y="2243779"/>
            <a:ext cx="8061750" cy="3700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- создать TCP-сервер </a:t>
            </a:r>
          </a:p>
          <a:p>
            <a:pPr>
              <a:lnSpc>
                <a:spcPct val="200000"/>
              </a:lnSpc>
            </a:pP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- подключиться к серверу по IP и порту;</a:t>
            </a:r>
          </a:p>
          <a:p>
            <a:pPr>
              <a:lnSpc>
                <a:spcPct val="200000"/>
              </a:lnSpc>
            </a:pP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- играть в шашки по очереди</a:t>
            </a:r>
          </a:p>
          <a:p>
            <a:pPr>
              <a:lnSpc>
                <a:spcPct val="200000"/>
              </a:lnSpc>
            </a:pP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- проверять корректность ходов</a:t>
            </a:r>
          </a:p>
          <a:p>
            <a:pPr>
              <a:lnSpc>
                <a:spcPct val="200000"/>
              </a:lnSpc>
            </a:pP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- синхронизировать доску между двумя игроками</a:t>
            </a:r>
          </a:p>
          <a:p>
            <a:pPr>
              <a:lnSpc>
                <a:spcPct val="200000"/>
              </a:lnSpc>
            </a:pP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- начинать новую игру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28B2B-6B28-42F4-940C-9BD3A26F3EDD}"/>
              </a:ext>
            </a:extLst>
          </p:cNvPr>
          <p:cNvSpPr txBox="1"/>
          <p:nvPr/>
        </p:nvSpPr>
        <p:spPr>
          <a:xfrm>
            <a:off x="345403" y="1782114"/>
            <a:ext cx="5496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F2F2F2"/>
                </a:solidFill>
                <a:latin typeface="Actay Wide Bd" pitchFamily="50" charset="-52"/>
              </a:rPr>
              <a:t>Приложение позволяет: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00C46B1-F122-43A4-9089-085C04F27E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34"/>
          <a:stretch/>
        </p:blipFill>
        <p:spPr>
          <a:xfrm>
            <a:off x="8738833" y="1827"/>
            <a:ext cx="3453167" cy="685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35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A34FE9-72AA-4F30-8C7B-8B56ED3EA6DD}"/>
              </a:ext>
            </a:extLst>
          </p:cNvPr>
          <p:cNvSpPr txBox="1"/>
          <p:nvPr/>
        </p:nvSpPr>
        <p:spPr>
          <a:xfrm>
            <a:off x="345403" y="289969"/>
            <a:ext cx="10991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Матч 2 игроков: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1F32DC-D76E-4623-B480-D53F81632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49" y="1825968"/>
            <a:ext cx="5326091" cy="3611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5B189E-6D28-4D39-B357-B3C789190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004" y="1825968"/>
            <a:ext cx="5326091" cy="35965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BBCC74-7624-4AB4-B6FC-E49AEE93E188}"/>
              </a:ext>
            </a:extLst>
          </p:cNvPr>
          <p:cNvSpPr txBox="1"/>
          <p:nvPr/>
        </p:nvSpPr>
        <p:spPr>
          <a:xfrm>
            <a:off x="2559173" y="5621488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F2F2F2"/>
                </a:solidFill>
                <a:latin typeface="Actay Wide Bd" pitchFamily="50" charset="-52"/>
              </a:rPr>
              <a:t>Игрок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738DB-3C69-4C1E-B73E-F7ADD724E935}"/>
              </a:ext>
            </a:extLst>
          </p:cNvPr>
          <p:cNvSpPr txBox="1"/>
          <p:nvPr/>
        </p:nvSpPr>
        <p:spPr>
          <a:xfrm>
            <a:off x="8457380" y="5621488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F2F2F2"/>
                </a:solidFill>
                <a:latin typeface="Actay Wide Bd" pitchFamily="50" charset="-52"/>
              </a:rPr>
              <a:t>Игрок 2</a:t>
            </a:r>
          </a:p>
        </p:txBody>
      </p:sp>
    </p:spTree>
    <p:extLst>
      <p:ext uri="{BB962C8B-B14F-4D97-AF65-F5344CB8AC3E}">
        <p14:creationId xmlns:p14="http://schemas.microsoft.com/office/powerpoint/2010/main" val="5662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11BA4D-284D-4475-8F51-6231AA860709}"/>
              </a:ext>
            </a:extLst>
          </p:cNvPr>
          <p:cNvSpPr txBox="1"/>
          <p:nvPr/>
        </p:nvSpPr>
        <p:spPr>
          <a:xfrm>
            <a:off x="345403" y="289969"/>
            <a:ext cx="10991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стек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0E8FF9-5FA2-4FE4-AA62-46630AC82A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7" b="20376"/>
          <a:stretch/>
        </p:blipFill>
        <p:spPr>
          <a:xfrm>
            <a:off x="0" y="1356449"/>
            <a:ext cx="2356282" cy="1457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364A5A-765A-4FD5-815C-63D27A13C485}"/>
              </a:ext>
            </a:extLst>
          </p:cNvPr>
          <p:cNvSpPr txBox="1"/>
          <p:nvPr/>
        </p:nvSpPr>
        <p:spPr>
          <a:xfrm>
            <a:off x="0" y="2918053"/>
            <a:ext cx="2356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Основной язык разработки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A5A786-819D-426F-88A6-8B6607667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927" y="4240041"/>
            <a:ext cx="1457048" cy="1457048"/>
          </a:xfrm>
          <a:prstGeom prst="round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1B1184-53CD-4EFF-ABA0-4DF90C2F75D5}"/>
              </a:ext>
            </a:extLst>
          </p:cNvPr>
          <p:cNvSpPr txBox="1"/>
          <p:nvPr/>
        </p:nvSpPr>
        <p:spPr>
          <a:xfrm>
            <a:off x="93310" y="5771142"/>
            <a:ext cx="2356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Платформа приложения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11DA16-5336-4D38-805D-6CBB2A0DF6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98" y="1356449"/>
            <a:ext cx="1457048" cy="1457048"/>
          </a:xfrm>
          <a:prstGeom prst="round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DC4788-EAEC-4CD1-A391-7FC56710EE0A}"/>
              </a:ext>
            </a:extLst>
          </p:cNvPr>
          <p:cNvSpPr txBox="1"/>
          <p:nvPr/>
        </p:nvSpPr>
        <p:spPr>
          <a:xfrm>
            <a:off x="2303481" y="2887550"/>
            <a:ext cx="2356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Графический интерфейс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FFF607F-72FB-463B-AFFB-1D3403EFA6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374" y="1351425"/>
            <a:ext cx="1457048" cy="1457048"/>
          </a:xfrm>
          <a:prstGeom prst="round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1C068C-2A40-472D-80DE-CC35557F07EF}"/>
              </a:ext>
            </a:extLst>
          </p:cNvPr>
          <p:cNvSpPr txBox="1"/>
          <p:nvPr/>
        </p:nvSpPr>
        <p:spPr>
          <a:xfrm>
            <a:off x="4605757" y="2882525"/>
            <a:ext cx="2356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Сетевое взаимодействие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B5EA8A6-6164-490E-A9C2-4AADA0D787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617" y="4240041"/>
            <a:ext cx="1457048" cy="1457048"/>
          </a:xfrm>
          <a:prstGeom prst="round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EA022DA-9953-40FD-803F-0D4CE4825CE5}"/>
              </a:ext>
            </a:extLst>
          </p:cNvPr>
          <p:cNvSpPr txBox="1"/>
          <p:nvPr/>
        </p:nvSpPr>
        <p:spPr>
          <a:xfrm>
            <a:off x="2611609" y="5897432"/>
            <a:ext cx="1721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Тестирование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47303A7-2ADD-4C41-B0D1-0BDB8823FF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343" y="4240041"/>
            <a:ext cx="1457048" cy="14570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FDFE229-B3F7-45C0-BB66-923B0486B905}"/>
              </a:ext>
            </a:extLst>
          </p:cNvPr>
          <p:cNvSpPr txBox="1"/>
          <p:nvPr/>
        </p:nvSpPr>
        <p:spPr>
          <a:xfrm>
            <a:off x="4827166" y="5776166"/>
            <a:ext cx="1721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Контроль версий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93273B7-3416-4E92-90C2-A1622EDBC1B3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753012" y="0"/>
            <a:ext cx="3429000" cy="6858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5F6032-FE7E-40A1-8E38-44235B2F786D}"/>
              </a:ext>
            </a:extLst>
          </p:cNvPr>
          <p:cNvSpPr txBox="1"/>
          <p:nvPr/>
        </p:nvSpPr>
        <p:spPr>
          <a:xfrm>
            <a:off x="7400231" y="3008816"/>
            <a:ext cx="1721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Установщик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B35534FB-BD63-45D2-B3F7-CE2D227057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39" y="1351425"/>
            <a:ext cx="1457048" cy="145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85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Блок-схема: данные 18">
            <a:extLst>
              <a:ext uri="{FF2B5EF4-FFF2-40B4-BE49-F238E27FC236}">
                <a16:creationId xmlns:a16="http://schemas.microsoft.com/office/drawing/2014/main" id="{DA0992A0-E69E-470D-A248-31F803FA16E1}"/>
              </a:ext>
            </a:extLst>
          </p:cNvPr>
          <p:cNvSpPr/>
          <p:nvPr/>
        </p:nvSpPr>
        <p:spPr>
          <a:xfrm>
            <a:off x="1250926" y="2530135"/>
            <a:ext cx="3520540" cy="1202304"/>
          </a:xfrm>
          <a:prstGeom prst="flowChartInputOutput">
            <a:avLst/>
          </a:prstGeom>
          <a:solidFill>
            <a:srgbClr val="95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UI/</a:t>
            </a:r>
            <a:r>
              <a:rPr lang="en-US" sz="2000" dirty="0" err="1">
                <a:solidFill>
                  <a:srgbClr val="F2F2F2"/>
                </a:solidFill>
                <a:latin typeface="Actay Wide Bd" pitchFamily="50" charset="-52"/>
              </a:rPr>
              <a:t>MainForm</a:t>
            </a:r>
            <a:endParaRPr lang="en-US" sz="2000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интерфейс</a:t>
            </a:r>
            <a:r>
              <a:rPr lang="en-US" sz="1600" dirty="0">
                <a:solidFill>
                  <a:srgbClr val="F2F2F2"/>
                </a:solidFill>
                <a:latin typeface="Actay Light" pitchFamily="50" charset="-52"/>
              </a:rPr>
              <a:t>, </a:t>
            </a:r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действия</a:t>
            </a:r>
          </a:p>
        </p:txBody>
      </p:sp>
      <p:sp>
        <p:nvSpPr>
          <p:cNvPr id="20" name="Блок-схема: данные 19">
            <a:extLst>
              <a:ext uri="{FF2B5EF4-FFF2-40B4-BE49-F238E27FC236}">
                <a16:creationId xmlns:a16="http://schemas.microsoft.com/office/drawing/2014/main" id="{6AACE90E-8F76-41F7-8BB3-97E91B444EED}"/>
              </a:ext>
            </a:extLst>
          </p:cNvPr>
          <p:cNvSpPr/>
          <p:nvPr/>
        </p:nvSpPr>
        <p:spPr>
          <a:xfrm>
            <a:off x="4385570" y="2530135"/>
            <a:ext cx="3520540" cy="1202304"/>
          </a:xfrm>
          <a:prstGeom prst="flowChartInputOutpu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rgbClr val="F2F2F2"/>
                </a:solidFill>
                <a:latin typeface="Actay Wide Bd" pitchFamily="50" charset="-52"/>
              </a:rPr>
              <a:t>GameLogic</a:t>
            </a:r>
            <a:endParaRPr lang="en-US" sz="2000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правила игры и состояние партии</a:t>
            </a:r>
          </a:p>
        </p:txBody>
      </p:sp>
      <p:sp>
        <p:nvSpPr>
          <p:cNvPr id="21" name="Блок-схема: данные 20">
            <a:extLst>
              <a:ext uri="{FF2B5EF4-FFF2-40B4-BE49-F238E27FC236}">
                <a16:creationId xmlns:a16="http://schemas.microsoft.com/office/drawing/2014/main" id="{B44B5BD4-6C35-498F-9C59-736C36B2CE0A}"/>
              </a:ext>
            </a:extLst>
          </p:cNvPr>
          <p:cNvSpPr/>
          <p:nvPr/>
        </p:nvSpPr>
        <p:spPr>
          <a:xfrm>
            <a:off x="7520214" y="2530135"/>
            <a:ext cx="3520540" cy="1202304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Network</a:t>
            </a:r>
          </a:p>
          <a:p>
            <a:pPr algn="ctr"/>
            <a:r>
              <a:rPr lang="ru-RU" sz="1600" dirty="0">
                <a:latin typeface="Actay Light" pitchFamily="50" charset="-52"/>
              </a:rPr>
              <a:t>сервер, клиент</a:t>
            </a:r>
            <a:r>
              <a:rPr lang="en-US" sz="1600" dirty="0">
                <a:latin typeface="Actay Light" pitchFamily="50" charset="-52"/>
              </a:rPr>
              <a:t>, </a:t>
            </a:r>
            <a:r>
              <a:rPr lang="ru-RU" sz="1600" dirty="0">
                <a:latin typeface="Actay Light" pitchFamily="50" charset="-52"/>
              </a:rPr>
              <a:t>сообщения</a:t>
            </a:r>
            <a:endParaRPr lang="ru-RU" sz="1600" dirty="0">
              <a:solidFill>
                <a:srgbClr val="F2F2F2"/>
              </a:solidFill>
              <a:latin typeface="Actay Light" pitchFamily="50" charset="-52"/>
            </a:endParaRPr>
          </a:p>
        </p:txBody>
      </p:sp>
      <p:sp>
        <p:nvSpPr>
          <p:cNvPr id="22" name="Блок-схема: данные 21">
            <a:extLst>
              <a:ext uri="{FF2B5EF4-FFF2-40B4-BE49-F238E27FC236}">
                <a16:creationId xmlns:a16="http://schemas.microsoft.com/office/drawing/2014/main" id="{83F602D8-36A2-43F2-A455-5034A784F822}"/>
              </a:ext>
            </a:extLst>
          </p:cNvPr>
          <p:cNvSpPr/>
          <p:nvPr/>
        </p:nvSpPr>
        <p:spPr>
          <a:xfrm>
            <a:off x="2203969" y="3916532"/>
            <a:ext cx="3520540" cy="1202304"/>
          </a:xfrm>
          <a:prstGeom prst="flowChartInputOutpu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Models</a:t>
            </a:r>
            <a:endParaRPr lang="ru-RU" sz="2000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модели данных</a:t>
            </a:r>
          </a:p>
        </p:txBody>
      </p:sp>
      <p:sp>
        <p:nvSpPr>
          <p:cNvPr id="23" name="Блок-схема: данные 22">
            <a:extLst>
              <a:ext uri="{FF2B5EF4-FFF2-40B4-BE49-F238E27FC236}">
                <a16:creationId xmlns:a16="http://schemas.microsoft.com/office/drawing/2014/main" id="{2A0212F3-428A-4A11-8372-D6B7022E5C41}"/>
              </a:ext>
            </a:extLst>
          </p:cNvPr>
          <p:cNvSpPr/>
          <p:nvPr/>
        </p:nvSpPr>
        <p:spPr>
          <a:xfrm>
            <a:off x="5392532" y="3916532"/>
            <a:ext cx="3520540" cy="1202304"/>
          </a:xfrm>
          <a:prstGeom prst="flowChartInputOutpu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Tests</a:t>
            </a:r>
            <a:endParaRPr lang="ru-RU" sz="2000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latin typeface="Actay Light" pitchFamily="50" charset="-52"/>
              </a:rPr>
              <a:t>проверка логики и сети</a:t>
            </a:r>
            <a:endParaRPr lang="ru-RU" sz="1600" dirty="0">
              <a:solidFill>
                <a:srgbClr val="F2F2F2"/>
              </a:solidFill>
              <a:latin typeface="Actay Light" pitchFamily="50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BEBCCD-BB40-4A44-8AA8-0EA81F0832C6}"/>
              </a:ext>
            </a:extLst>
          </p:cNvPr>
          <p:cNvSpPr txBox="1"/>
          <p:nvPr/>
        </p:nvSpPr>
        <p:spPr>
          <a:xfrm>
            <a:off x="345403" y="289969"/>
            <a:ext cx="114263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архитектура</a:t>
            </a:r>
          </a:p>
        </p:txBody>
      </p:sp>
    </p:spTree>
    <p:extLst>
      <p:ext uri="{BB962C8B-B14F-4D97-AF65-F5344CB8AC3E}">
        <p14:creationId xmlns:p14="http://schemas.microsoft.com/office/powerpoint/2010/main" val="4210214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D00F73-DACA-4B1C-A65F-878CCE9DB635}"/>
              </a:ext>
            </a:extLst>
          </p:cNvPr>
          <p:cNvSpPr txBox="1"/>
          <p:nvPr/>
        </p:nvSpPr>
        <p:spPr>
          <a:xfrm>
            <a:off x="345403" y="289969"/>
            <a:ext cx="10991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структура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A69DCA-8907-4259-8E76-C0DA503B2B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49"/>
          <a:stretch/>
        </p:blipFill>
        <p:spPr>
          <a:xfrm>
            <a:off x="754206" y="1373297"/>
            <a:ext cx="3952462" cy="4839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18B85A-9BE8-4645-9EB9-18574BA30958}"/>
              </a:ext>
            </a:extLst>
          </p:cNvPr>
          <p:cNvSpPr txBox="1"/>
          <p:nvPr/>
        </p:nvSpPr>
        <p:spPr>
          <a:xfrm>
            <a:off x="5392528" y="1447060"/>
            <a:ext cx="5944256" cy="4316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 err="1">
                <a:solidFill>
                  <a:srgbClr val="F2F2F2"/>
                </a:solidFill>
                <a:latin typeface="Actay Wide Bd" pitchFamily="50" charset="-52"/>
              </a:rPr>
              <a:t>MainForm.cs</a:t>
            </a:r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 </a:t>
            </a:r>
            <a:r>
              <a:rPr lang="en-US" sz="2000" dirty="0">
                <a:solidFill>
                  <a:srgbClr val="F2F2F2"/>
                </a:solidFill>
                <a:latin typeface="Actay Light" pitchFamily="50" charset="-52"/>
              </a:rPr>
              <a:t>— </a:t>
            </a: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главное окно</a:t>
            </a:r>
          </a:p>
          <a:p>
            <a:pPr>
              <a:lnSpc>
                <a:spcPct val="200000"/>
              </a:lnSpc>
            </a:pPr>
            <a:r>
              <a:rPr lang="en-US" sz="2000" dirty="0" err="1">
                <a:solidFill>
                  <a:srgbClr val="F2F2F2"/>
                </a:solidFill>
                <a:latin typeface="Actay Wide Bd" pitchFamily="50" charset="-52"/>
              </a:rPr>
              <a:t>GameLogic</a:t>
            </a:r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/ </a:t>
            </a:r>
            <a:r>
              <a:rPr lang="en-US" sz="2000" dirty="0">
                <a:solidFill>
                  <a:srgbClr val="F2F2F2"/>
                </a:solidFill>
                <a:latin typeface="Actay Light" pitchFamily="50" charset="-52"/>
              </a:rPr>
              <a:t>— </a:t>
            </a: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игровая логика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Models/ </a:t>
            </a:r>
            <a:r>
              <a:rPr lang="en-US" sz="2000" dirty="0">
                <a:solidFill>
                  <a:srgbClr val="F2F2F2"/>
                </a:solidFill>
                <a:latin typeface="Actay Light" pitchFamily="50" charset="-52"/>
              </a:rPr>
              <a:t>— </a:t>
            </a: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модели хода, шашки, состояния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Network/ </a:t>
            </a:r>
            <a:r>
              <a:rPr lang="en-US" sz="2000" dirty="0">
                <a:solidFill>
                  <a:srgbClr val="F2F2F2"/>
                </a:solidFill>
                <a:latin typeface="Actay Light" pitchFamily="50" charset="-52"/>
              </a:rPr>
              <a:t>— TCP-</a:t>
            </a: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сервер и </a:t>
            </a:r>
            <a:r>
              <a:rPr lang="en-US" sz="2000" dirty="0">
                <a:solidFill>
                  <a:srgbClr val="F2F2F2"/>
                </a:solidFill>
                <a:latin typeface="Actay Light" pitchFamily="50" charset="-52"/>
              </a:rPr>
              <a:t>TCP-</a:t>
            </a: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клиент</a:t>
            </a:r>
          </a:p>
          <a:p>
            <a:pPr>
              <a:lnSpc>
                <a:spcPct val="200000"/>
              </a:lnSpc>
            </a:pPr>
            <a:r>
              <a:rPr lang="en-US" sz="2000" dirty="0" err="1">
                <a:solidFill>
                  <a:srgbClr val="F2F2F2"/>
                </a:solidFill>
                <a:latin typeface="Actay Wide Bd" pitchFamily="50" charset="-52"/>
              </a:rPr>
              <a:t>project.Tests</a:t>
            </a:r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/ </a:t>
            </a:r>
            <a:r>
              <a:rPr lang="en-US" sz="2000" dirty="0">
                <a:solidFill>
                  <a:srgbClr val="F2F2F2"/>
                </a:solidFill>
                <a:latin typeface="Actay Light" pitchFamily="50" charset="-52"/>
              </a:rPr>
              <a:t>— </a:t>
            </a: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тесты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installer/ </a:t>
            </a:r>
            <a:r>
              <a:rPr lang="en-US" sz="2000" dirty="0">
                <a:solidFill>
                  <a:srgbClr val="F2F2F2"/>
                </a:solidFill>
                <a:latin typeface="Actay Light" pitchFamily="50" charset="-52"/>
              </a:rPr>
              <a:t>— </a:t>
            </a: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сценарий установщика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F2F2F2"/>
                </a:solidFill>
                <a:latin typeface="Actay Wide Bd" pitchFamily="50" charset="-52"/>
              </a:rPr>
              <a:t>publish/ </a:t>
            </a:r>
            <a:r>
              <a:rPr lang="en-US" sz="2000" dirty="0">
                <a:solidFill>
                  <a:srgbClr val="F2F2F2"/>
                </a:solidFill>
                <a:latin typeface="Actay Light" pitchFamily="50" charset="-52"/>
              </a:rPr>
              <a:t>— </a:t>
            </a:r>
            <a:r>
              <a:rPr lang="ru-RU" sz="2000" dirty="0">
                <a:solidFill>
                  <a:srgbClr val="F2F2F2"/>
                </a:solidFill>
                <a:latin typeface="Actay Light" pitchFamily="50" charset="-52"/>
              </a:rPr>
              <a:t>готовая публикация</a:t>
            </a:r>
          </a:p>
        </p:txBody>
      </p:sp>
    </p:spTree>
    <p:extLst>
      <p:ext uri="{BB962C8B-B14F-4D97-AF65-F5344CB8AC3E}">
        <p14:creationId xmlns:p14="http://schemas.microsoft.com/office/powerpoint/2010/main" val="313168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133B6-A6A6-46D8-B703-50EC9AF7B807}"/>
              </a:ext>
            </a:extLst>
          </p:cNvPr>
          <p:cNvSpPr txBox="1"/>
          <p:nvPr/>
        </p:nvSpPr>
        <p:spPr>
          <a:xfrm>
            <a:off x="345403" y="289969"/>
            <a:ext cx="10991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классы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D8B739A-7218-412F-A482-8ACB66864855}"/>
              </a:ext>
            </a:extLst>
          </p:cNvPr>
          <p:cNvSpPr/>
          <p:nvPr/>
        </p:nvSpPr>
        <p:spPr>
          <a:xfrm>
            <a:off x="345403" y="1225119"/>
            <a:ext cx="2646372" cy="246799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2F2F2"/>
                </a:solidFill>
                <a:latin typeface="Actay Wide Bd" pitchFamily="50" charset="-52"/>
              </a:rPr>
              <a:t>MainForm</a:t>
            </a:r>
            <a:endParaRPr lang="ru-RU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solidFill>
                  <a:srgbClr val="F2F2F2"/>
                </a:solidFill>
                <a:latin typeface="Actay Light" pitchFamily="50" charset="-52"/>
              </a:rPr>
              <a:t>связывает интерфейс, игру и сеть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EBD1F6F-55FF-4292-AF4A-6F72D4CE4D10}"/>
              </a:ext>
            </a:extLst>
          </p:cNvPr>
          <p:cNvSpPr/>
          <p:nvPr/>
        </p:nvSpPr>
        <p:spPr>
          <a:xfrm>
            <a:off x="9200225" y="1225119"/>
            <a:ext cx="2646372" cy="2467992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2F2F2"/>
                </a:solidFill>
                <a:latin typeface="Actay Wide Bd" pitchFamily="50" charset="-52"/>
              </a:rPr>
              <a:t>MoveValidator</a:t>
            </a:r>
            <a:endParaRPr lang="ru-RU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latin typeface="Actay Light" pitchFamily="50" charset="-52"/>
              </a:rPr>
              <a:t>проверяет допустимость ходов</a:t>
            </a:r>
            <a:endParaRPr lang="ru-RU" sz="1600" dirty="0">
              <a:solidFill>
                <a:srgbClr val="F2F2F2"/>
              </a:solidFill>
              <a:latin typeface="Actay Light" pitchFamily="50" charset="-52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AC3D6A4-729E-4570-A0F8-4054870C9B62}"/>
              </a:ext>
            </a:extLst>
          </p:cNvPr>
          <p:cNvSpPr/>
          <p:nvPr/>
        </p:nvSpPr>
        <p:spPr>
          <a:xfrm>
            <a:off x="3309798" y="1225119"/>
            <a:ext cx="2646372" cy="2467992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2F2F2"/>
                </a:solidFill>
                <a:latin typeface="Actay Wide Bd" pitchFamily="50" charset="-52"/>
              </a:rPr>
              <a:t>CheckersGame</a:t>
            </a:r>
            <a:endParaRPr lang="ru-RU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latin typeface="Actay Light" pitchFamily="50" charset="-52"/>
              </a:rPr>
              <a:t>управляет партией игроков</a:t>
            </a:r>
            <a:endParaRPr lang="ru-RU" sz="1600" dirty="0">
              <a:solidFill>
                <a:srgbClr val="F2F2F2"/>
              </a:solidFill>
              <a:latin typeface="Actay Light" pitchFamily="50" charset="-52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C96508E-D4AD-4B3C-8C94-2D3522BEA606}"/>
              </a:ext>
            </a:extLst>
          </p:cNvPr>
          <p:cNvSpPr/>
          <p:nvPr/>
        </p:nvSpPr>
        <p:spPr>
          <a:xfrm>
            <a:off x="6235831" y="1225119"/>
            <a:ext cx="2646372" cy="246799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2F2F2"/>
                </a:solidFill>
                <a:latin typeface="Actay Wide Bd" pitchFamily="50" charset="-52"/>
              </a:rPr>
              <a:t>GameBoard</a:t>
            </a:r>
            <a:endParaRPr lang="ru-RU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latin typeface="Actay Light" pitchFamily="50" charset="-52"/>
              </a:rPr>
              <a:t>хранит состояние доски</a:t>
            </a:r>
            <a:endParaRPr lang="ru-RU" sz="1600" dirty="0">
              <a:solidFill>
                <a:srgbClr val="F2F2F2"/>
              </a:solidFill>
              <a:latin typeface="Actay Light" pitchFamily="50" charset="-52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BB2DBFF-D56B-4A2C-B286-943353BF7522}"/>
              </a:ext>
            </a:extLst>
          </p:cNvPr>
          <p:cNvSpPr/>
          <p:nvPr/>
        </p:nvSpPr>
        <p:spPr>
          <a:xfrm>
            <a:off x="1811271" y="3934288"/>
            <a:ext cx="2646372" cy="2467992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2F2F2"/>
                </a:solidFill>
                <a:latin typeface="Actay Wide Bd" pitchFamily="50" charset="-52"/>
              </a:rPr>
              <a:t>TcpGameServer</a:t>
            </a:r>
            <a:endParaRPr lang="ru-RU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latin typeface="Actay Light" pitchFamily="50" charset="-52"/>
              </a:rPr>
              <a:t>запускает сервер</a:t>
            </a:r>
            <a:endParaRPr lang="ru-RU" sz="1600" dirty="0">
              <a:solidFill>
                <a:srgbClr val="F2F2F2"/>
              </a:solidFill>
              <a:latin typeface="Actay Light" pitchFamily="50" charset="-52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F3C945E-662F-4D2A-8F49-0E1435C55AFC}"/>
              </a:ext>
            </a:extLst>
          </p:cNvPr>
          <p:cNvSpPr/>
          <p:nvPr/>
        </p:nvSpPr>
        <p:spPr>
          <a:xfrm>
            <a:off x="4772814" y="3934288"/>
            <a:ext cx="2646372" cy="24679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2F2F2"/>
                </a:solidFill>
                <a:latin typeface="Actay Wide Bd" pitchFamily="50" charset="-52"/>
              </a:rPr>
              <a:t>TcpGameClient</a:t>
            </a:r>
            <a:endParaRPr lang="ru-RU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latin typeface="Actay Light" pitchFamily="50" charset="-52"/>
              </a:rPr>
              <a:t>подключается к серверу</a:t>
            </a:r>
            <a:endParaRPr lang="ru-RU" sz="1600" dirty="0">
              <a:solidFill>
                <a:srgbClr val="F2F2F2"/>
              </a:solidFill>
              <a:latin typeface="Actay Light" pitchFamily="50" charset="-52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893C178-754C-460D-9142-80D0AAE136B4}"/>
              </a:ext>
            </a:extLst>
          </p:cNvPr>
          <p:cNvSpPr/>
          <p:nvPr/>
        </p:nvSpPr>
        <p:spPr>
          <a:xfrm>
            <a:off x="7698847" y="3934288"/>
            <a:ext cx="2646372" cy="2467992"/>
          </a:xfrm>
          <a:prstGeom prst="roundRect">
            <a:avLst/>
          </a:prstGeom>
          <a:solidFill>
            <a:srgbClr val="952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2F2F2"/>
                </a:solidFill>
                <a:latin typeface="Actay Wide Bd" pitchFamily="50" charset="-52"/>
              </a:rPr>
              <a:t>NetworkMessage</a:t>
            </a:r>
            <a:endParaRPr lang="ru-RU" dirty="0">
              <a:solidFill>
                <a:srgbClr val="F2F2F2"/>
              </a:solidFill>
              <a:latin typeface="Actay Wide Bd" pitchFamily="50" charset="-52"/>
            </a:endParaRPr>
          </a:p>
          <a:p>
            <a:pPr algn="ctr"/>
            <a:r>
              <a:rPr lang="ru-RU" sz="1600" dirty="0">
                <a:latin typeface="Actay Light" pitchFamily="50" charset="-52"/>
              </a:rPr>
              <a:t>описывает сетевые сообщения</a:t>
            </a:r>
            <a:endParaRPr lang="ru-RU" sz="1600" dirty="0">
              <a:solidFill>
                <a:srgbClr val="F2F2F2"/>
              </a:solidFill>
              <a:latin typeface="Actay Light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32920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3EF52F-C406-43FA-9D58-8D57D10007A9}"/>
              </a:ext>
            </a:extLst>
          </p:cNvPr>
          <p:cNvSpPr txBox="1"/>
          <p:nvPr/>
        </p:nvSpPr>
        <p:spPr>
          <a:xfrm>
            <a:off x="345403" y="289969"/>
            <a:ext cx="11346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Игровая логика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21A5E-186E-4C14-92A6-3518EF03E994}"/>
              </a:ext>
            </a:extLst>
          </p:cNvPr>
          <p:cNvSpPr txBox="1"/>
          <p:nvPr/>
        </p:nvSpPr>
        <p:spPr>
          <a:xfrm>
            <a:off x="345403" y="1189608"/>
            <a:ext cx="39821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2F2F2"/>
                </a:solidFill>
                <a:latin typeface="Actay Wide Bd" pitchFamily="50" charset="-52"/>
              </a:rPr>
              <a:t>Игровая логика отвечает за:</a:t>
            </a:r>
          </a:p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начальную расстановку</a:t>
            </a:r>
          </a:p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выбор текущего игрока</a:t>
            </a:r>
          </a:p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проверку ходов</a:t>
            </a:r>
          </a:p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выполнение взятий</a:t>
            </a:r>
          </a:p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превращение шашки в дамку</a:t>
            </a:r>
          </a:p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цепные взятия</a:t>
            </a:r>
          </a:p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определение победителя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48C21-99FA-4541-82A9-6F33D32C178D}"/>
              </a:ext>
            </a:extLst>
          </p:cNvPr>
          <p:cNvSpPr txBox="1"/>
          <p:nvPr/>
        </p:nvSpPr>
        <p:spPr>
          <a:xfrm>
            <a:off x="345403" y="3628130"/>
            <a:ext cx="33666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2F2F2"/>
                </a:solidFill>
                <a:latin typeface="Actay Wide Bd" pitchFamily="50" charset="-52"/>
              </a:rPr>
              <a:t>Основные методы:</a:t>
            </a:r>
          </a:p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</a:t>
            </a:r>
            <a:r>
              <a:rPr lang="en-US" dirty="0" err="1">
                <a:solidFill>
                  <a:srgbClr val="F2F2F2"/>
                </a:solidFill>
                <a:latin typeface="Actay Light" pitchFamily="50" charset="-52"/>
              </a:rPr>
              <a:t>StartNewGame</a:t>
            </a:r>
            <a:r>
              <a:rPr lang="en-US" dirty="0">
                <a:solidFill>
                  <a:srgbClr val="F2F2F2"/>
                </a:solidFill>
                <a:latin typeface="Actay Light" pitchFamily="50" charset="-52"/>
              </a:rPr>
              <a:t>()</a:t>
            </a:r>
          </a:p>
          <a:p>
            <a:r>
              <a:rPr lang="en-US" dirty="0">
                <a:solidFill>
                  <a:srgbClr val="F2F2F2"/>
                </a:solidFill>
                <a:latin typeface="Actay Light" pitchFamily="50" charset="-52"/>
              </a:rPr>
              <a:t>- </a:t>
            </a:r>
            <a:r>
              <a:rPr lang="en-US" dirty="0" err="1">
                <a:solidFill>
                  <a:srgbClr val="F2F2F2"/>
                </a:solidFill>
                <a:latin typeface="Actay Light" pitchFamily="50" charset="-52"/>
              </a:rPr>
              <a:t>TryMakeMove</a:t>
            </a:r>
            <a:r>
              <a:rPr lang="en-US" dirty="0">
                <a:solidFill>
                  <a:srgbClr val="F2F2F2"/>
                </a:solidFill>
                <a:latin typeface="Actay Light" pitchFamily="50" charset="-52"/>
              </a:rPr>
              <a:t>(Move move)</a:t>
            </a:r>
          </a:p>
          <a:p>
            <a:r>
              <a:rPr lang="en-US" dirty="0">
                <a:solidFill>
                  <a:srgbClr val="F2F2F2"/>
                </a:solidFill>
                <a:latin typeface="Actay Light" pitchFamily="50" charset="-52"/>
              </a:rPr>
              <a:t>- </a:t>
            </a:r>
            <a:r>
              <a:rPr lang="en-US" dirty="0" err="1">
                <a:solidFill>
                  <a:srgbClr val="F2F2F2"/>
                </a:solidFill>
                <a:latin typeface="Actay Light" pitchFamily="50" charset="-52"/>
              </a:rPr>
              <a:t>GetBoardSnapshot</a:t>
            </a:r>
            <a:r>
              <a:rPr lang="en-US" dirty="0">
                <a:solidFill>
                  <a:srgbClr val="F2F2F2"/>
                </a:solidFill>
                <a:latin typeface="Actay Light" pitchFamily="50" charset="-52"/>
              </a:rPr>
              <a:t>()</a:t>
            </a:r>
          </a:p>
          <a:p>
            <a:r>
              <a:rPr lang="en-US" dirty="0">
                <a:solidFill>
                  <a:srgbClr val="F2F2F2"/>
                </a:solidFill>
                <a:latin typeface="Actay Light" pitchFamily="50" charset="-52"/>
              </a:rPr>
              <a:t>- </a:t>
            </a:r>
            <a:r>
              <a:rPr lang="en-US" dirty="0" err="1">
                <a:solidFill>
                  <a:srgbClr val="F2F2F2"/>
                </a:solidFill>
                <a:latin typeface="Actay Light" pitchFamily="50" charset="-52"/>
              </a:rPr>
              <a:t>CheckWinner</a:t>
            </a:r>
            <a:r>
              <a:rPr lang="en-US" dirty="0">
                <a:solidFill>
                  <a:srgbClr val="F2F2F2"/>
                </a:solidFill>
                <a:latin typeface="Actay Light" pitchFamily="50" charset="-52"/>
              </a:rPr>
              <a:t>()</a:t>
            </a:r>
            <a:endParaRPr lang="ru-RU" dirty="0">
              <a:solidFill>
                <a:srgbClr val="F2F2F2"/>
              </a:solidFill>
              <a:latin typeface="Actay Light" pitchFamily="50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6088AC-7F3F-4130-BEBE-06DBD0416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224" y="1189608"/>
            <a:ext cx="5974943" cy="5219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5766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53BE50-0675-4C63-B115-8CD762A09C3E}"/>
              </a:ext>
            </a:extLst>
          </p:cNvPr>
          <p:cNvSpPr txBox="1"/>
          <p:nvPr/>
        </p:nvSpPr>
        <p:spPr>
          <a:xfrm>
            <a:off x="345403" y="289969"/>
            <a:ext cx="11346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Проверка хода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9C8DC-55CF-4938-984F-096CB0E4E2A0}"/>
              </a:ext>
            </a:extLst>
          </p:cNvPr>
          <p:cNvSpPr txBox="1"/>
          <p:nvPr/>
        </p:nvSpPr>
        <p:spPr>
          <a:xfrm>
            <a:off x="345403" y="1686758"/>
            <a:ext cx="5984376" cy="3893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ru-RU" dirty="0">
                <a:solidFill>
                  <a:srgbClr val="F2F2F2"/>
                </a:solidFill>
                <a:latin typeface="Actay Wide Bd" pitchFamily="50" charset="-52"/>
              </a:rPr>
              <a:t>Перед выполнением хода проверяется:</a:t>
            </a:r>
          </a:p>
          <a:p>
            <a:pPr>
              <a:lnSpc>
                <a:spcPct val="20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находится ли клетка в пределах доски</a:t>
            </a:r>
          </a:p>
          <a:p>
            <a:pPr>
              <a:lnSpc>
                <a:spcPct val="20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есть ли шашка в исходной клетке</a:t>
            </a:r>
          </a:p>
          <a:p>
            <a:pPr>
              <a:lnSpc>
                <a:spcPct val="20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принадлежит ли шашка текущему игроку</a:t>
            </a:r>
          </a:p>
          <a:p>
            <a:pPr>
              <a:lnSpc>
                <a:spcPct val="20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свободна ли целевая клетка</a:t>
            </a:r>
          </a:p>
          <a:p>
            <a:pPr>
              <a:lnSpc>
                <a:spcPct val="20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выполняется ли ход по диагонали</a:t>
            </a:r>
          </a:p>
          <a:p>
            <a:pPr>
              <a:lnSpc>
                <a:spcPct val="20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нет ли обязательного взятия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D0330A-EBB5-4BAC-B304-20A0ED8B9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825" y="1975787"/>
            <a:ext cx="5426066" cy="36047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4039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B0B702-01FD-4D81-9DA4-09A78ECE5B19}"/>
              </a:ext>
            </a:extLst>
          </p:cNvPr>
          <p:cNvSpPr txBox="1"/>
          <p:nvPr/>
        </p:nvSpPr>
        <p:spPr>
          <a:xfrm>
            <a:off x="345403" y="289969"/>
            <a:ext cx="1178149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Сетевое взаимодействие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091CA-6A35-462F-993D-9BA512403F9B}"/>
              </a:ext>
            </a:extLst>
          </p:cNvPr>
          <p:cNvSpPr txBox="1"/>
          <p:nvPr/>
        </p:nvSpPr>
        <p:spPr>
          <a:xfrm>
            <a:off x="345403" y="1873189"/>
            <a:ext cx="6073152" cy="2543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Wide Bd" pitchFamily="50" charset="-52"/>
              </a:rPr>
              <a:t>Сеть работает по принципу: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сервер запускает </a:t>
            </a:r>
            <a:r>
              <a:rPr lang="ru-RU" dirty="0" err="1">
                <a:solidFill>
                  <a:srgbClr val="F2F2F2"/>
                </a:solidFill>
                <a:latin typeface="Actay Wide Bd" pitchFamily="50" charset="-52"/>
              </a:rPr>
              <a:t>TcpListener</a:t>
            </a:r>
            <a:endParaRPr lang="ru-RU" dirty="0">
              <a:solidFill>
                <a:srgbClr val="F2F2F2"/>
              </a:solidFill>
              <a:latin typeface="Actay Wide Bd" pitchFamily="50" charset="-52"/>
            </a:endParaRP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клиент подключается через </a:t>
            </a:r>
            <a:r>
              <a:rPr lang="ru-RU" dirty="0" err="1">
                <a:solidFill>
                  <a:srgbClr val="F2F2F2"/>
                </a:solidFill>
                <a:latin typeface="Actay Wide Bd" pitchFamily="50" charset="-52"/>
              </a:rPr>
              <a:t>TcpClient</a:t>
            </a:r>
            <a:endParaRPr lang="ru-RU" dirty="0">
              <a:solidFill>
                <a:srgbClr val="F2F2F2"/>
              </a:solidFill>
              <a:latin typeface="Actay Wide Bd" pitchFamily="50" charset="-52"/>
            </a:endParaRP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сообщения передаются построчно в JSON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каждый ход отправляется как сообщение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move</a:t>
            </a:r>
            <a:endParaRPr lang="ru-RU" dirty="0">
              <a:solidFill>
                <a:srgbClr val="F2F2F2"/>
              </a:solidFill>
              <a:latin typeface="Actay Light" pitchFamily="50" charset="-52"/>
            </a:endParaRP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при отключении отправляется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disconnect</a:t>
            </a:r>
            <a:endParaRPr lang="ru-RU" dirty="0">
              <a:solidFill>
                <a:srgbClr val="F2F2F2"/>
              </a:solidFill>
              <a:latin typeface="Actay Light" pitchFamily="5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1B14202-BD97-41A5-93EA-CCE273746F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1" t="10192" r="2074" b="8358"/>
          <a:stretch/>
        </p:blipFill>
        <p:spPr>
          <a:xfrm>
            <a:off x="345403" y="5433135"/>
            <a:ext cx="9144000" cy="9854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B35E8F-FF7F-4422-91C9-E1CE763DC17A}"/>
              </a:ext>
            </a:extLst>
          </p:cNvPr>
          <p:cNvSpPr txBox="1"/>
          <p:nvPr/>
        </p:nvSpPr>
        <p:spPr>
          <a:xfrm>
            <a:off x="345403" y="4873841"/>
            <a:ext cx="3704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F2F2F2"/>
                </a:solidFill>
                <a:latin typeface="Actay Wide Bd" pitchFamily="50" charset="-52"/>
              </a:rPr>
              <a:t>Пример сообщения:</a:t>
            </a:r>
          </a:p>
        </p:txBody>
      </p:sp>
    </p:spTree>
    <p:extLst>
      <p:ext uri="{BB962C8B-B14F-4D97-AF65-F5344CB8AC3E}">
        <p14:creationId xmlns:p14="http://schemas.microsoft.com/office/powerpoint/2010/main" val="353477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F62355-A753-452A-9B3B-567E8174651F}"/>
              </a:ext>
            </a:extLst>
          </p:cNvPr>
          <p:cNvSpPr txBox="1"/>
          <p:nvPr/>
        </p:nvSpPr>
        <p:spPr>
          <a:xfrm>
            <a:off x="345403" y="289969"/>
            <a:ext cx="11346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Состояния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BDA6F-B817-4AE7-8F9E-52AC2CCFF30A}"/>
              </a:ext>
            </a:extLst>
          </p:cNvPr>
          <p:cNvSpPr txBox="1"/>
          <p:nvPr/>
        </p:nvSpPr>
        <p:spPr>
          <a:xfrm>
            <a:off x="345403" y="1837678"/>
            <a:ext cx="8345554" cy="3683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 err="1">
                <a:solidFill>
                  <a:srgbClr val="F2F2F2"/>
                </a:solidFill>
                <a:latin typeface="Actay Wide Bd" pitchFamily="50" charset="-52"/>
              </a:rPr>
              <a:t>WaitingForConnection</a:t>
            </a:r>
            <a:r>
              <a:rPr lang="en-US" sz="2400" dirty="0">
                <a:solidFill>
                  <a:srgbClr val="F2F2F2"/>
                </a:solidFill>
                <a:latin typeface="Actay Light" pitchFamily="50" charset="-52"/>
              </a:rPr>
              <a:t> — </a:t>
            </a:r>
            <a:r>
              <a:rPr lang="ru-RU" sz="2400" dirty="0">
                <a:solidFill>
                  <a:srgbClr val="F2F2F2"/>
                </a:solidFill>
                <a:latin typeface="Actay Light" pitchFamily="50" charset="-52"/>
              </a:rPr>
              <a:t>ожидание подключения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rgbClr val="F2F2F2"/>
                </a:solidFill>
                <a:latin typeface="Actay Wide Bd" pitchFamily="50" charset="-52"/>
              </a:rPr>
              <a:t>Playing</a:t>
            </a:r>
            <a:r>
              <a:rPr lang="en-US" sz="2400" dirty="0">
                <a:solidFill>
                  <a:srgbClr val="F2F2F2"/>
                </a:solidFill>
                <a:latin typeface="Actay Light" pitchFamily="50" charset="-52"/>
              </a:rPr>
              <a:t> — </a:t>
            </a:r>
            <a:r>
              <a:rPr lang="ru-RU" sz="2400" dirty="0">
                <a:solidFill>
                  <a:srgbClr val="F2F2F2"/>
                </a:solidFill>
                <a:latin typeface="Actay Light" pitchFamily="50" charset="-52"/>
              </a:rPr>
              <a:t>идет партия</a:t>
            </a:r>
          </a:p>
          <a:p>
            <a:pPr>
              <a:lnSpc>
                <a:spcPct val="200000"/>
              </a:lnSpc>
            </a:pPr>
            <a:r>
              <a:rPr lang="en-US" sz="2400" dirty="0" err="1">
                <a:solidFill>
                  <a:srgbClr val="F2F2F2"/>
                </a:solidFill>
                <a:latin typeface="Actay Wide Bd" pitchFamily="50" charset="-52"/>
              </a:rPr>
              <a:t>WhiteWon</a:t>
            </a:r>
            <a:r>
              <a:rPr lang="en-US" sz="2400" dirty="0">
                <a:solidFill>
                  <a:srgbClr val="F2F2F2"/>
                </a:solidFill>
                <a:latin typeface="Actay Light" pitchFamily="50" charset="-52"/>
              </a:rPr>
              <a:t> — </a:t>
            </a:r>
            <a:r>
              <a:rPr lang="ru-RU" sz="2400" dirty="0">
                <a:solidFill>
                  <a:srgbClr val="F2F2F2"/>
                </a:solidFill>
                <a:latin typeface="Actay Light" pitchFamily="50" charset="-52"/>
              </a:rPr>
              <a:t>победили белые</a:t>
            </a:r>
          </a:p>
          <a:p>
            <a:pPr>
              <a:lnSpc>
                <a:spcPct val="200000"/>
              </a:lnSpc>
            </a:pPr>
            <a:r>
              <a:rPr lang="en-US" sz="2400" dirty="0" err="1">
                <a:solidFill>
                  <a:srgbClr val="F2F2F2"/>
                </a:solidFill>
                <a:latin typeface="Actay Wide Bd" pitchFamily="50" charset="-52"/>
              </a:rPr>
              <a:t>BlackWon</a:t>
            </a:r>
            <a:r>
              <a:rPr lang="en-US" sz="2400" dirty="0">
                <a:solidFill>
                  <a:srgbClr val="F2F2F2"/>
                </a:solidFill>
                <a:latin typeface="Actay Light" pitchFamily="50" charset="-52"/>
              </a:rPr>
              <a:t> — </a:t>
            </a:r>
            <a:r>
              <a:rPr lang="ru-RU" sz="2400" dirty="0">
                <a:solidFill>
                  <a:srgbClr val="F2F2F2"/>
                </a:solidFill>
                <a:latin typeface="Actay Light" pitchFamily="50" charset="-52"/>
              </a:rPr>
              <a:t>победили черные</a:t>
            </a:r>
          </a:p>
          <a:p>
            <a:pPr>
              <a:lnSpc>
                <a:spcPct val="200000"/>
              </a:lnSpc>
            </a:pPr>
            <a:r>
              <a:rPr lang="en-US" sz="2400" dirty="0" err="1">
                <a:solidFill>
                  <a:srgbClr val="F2F2F2"/>
                </a:solidFill>
                <a:latin typeface="Actay Wide Bd" pitchFamily="50" charset="-52"/>
              </a:rPr>
              <a:t>ConnectionError</a:t>
            </a:r>
            <a:r>
              <a:rPr lang="en-US" sz="2400" dirty="0">
                <a:solidFill>
                  <a:srgbClr val="F2F2F2"/>
                </a:solidFill>
                <a:latin typeface="Actay Light" pitchFamily="50" charset="-52"/>
              </a:rPr>
              <a:t> — </a:t>
            </a:r>
            <a:r>
              <a:rPr lang="ru-RU" sz="2400" dirty="0">
                <a:solidFill>
                  <a:srgbClr val="F2F2F2"/>
                </a:solidFill>
                <a:latin typeface="Actay Light" pitchFamily="50" charset="-52"/>
              </a:rPr>
              <a:t>ошибка соединения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C5DA70-5DB3-4BEE-BBB3-BFEDCFBFAF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17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508DF1-403A-4171-8F47-9E8C06170323}"/>
              </a:ext>
            </a:extLst>
          </p:cNvPr>
          <p:cNvSpPr txBox="1"/>
          <p:nvPr/>
        </p:nvSpPr>
        <p:spPr>
          <a:xfrm>
            <a:off x="345403" y="289969"/>
            <a:ext cx="11346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тестирование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DF104-C102-42CB-B2C8-62BC747C7EED}"/>
              </a:ext>
            </a:extLst>
          </p:cNvPr>
          <p:cNvSpPr txBox="1"/>
          <p:nvPr/>
        </p:nvSpPr>
        <p:spPr>
          <a:xfrm>
            <a:off x="345403" y="1313894"/>
            <a:ext cx="93762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Для проверки проекта был создан отдельный тестовый проект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project.Tests</a:t>
            </a: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.</a:t>
            </a:r>
          </a:p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Тестирование выполнено с использованием фреймворка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xUnit</a:t>
            </a: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.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CCD5352-19ED-41ED-BE4C-6733E2EADFA0}"/>
              </a:ext>
            </a:extLst>
          </p:cNvPr>
          <p:cNvSpPr/>
          <p:nvPr/>
        </p:nvSpPr>
        <p:spPr>
          <a:xfrm>
            <a:off x="345402" y="2214708"/>
            <a:ext cx="5469471" cy="423935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ru-RU" sz="2000" dirty="0" err="1">
                <a:solidFill>
                  <a:srgbClr val="F2F2F2"/>
                </a:solidFill>
                <a:latin typeface="Actay Wide Bd" pitchFamily="50" charset="-52"/>
              </a:rPr>
              <a:t>GameLogicTests</a:t>
            </a:r>
            <a:r>
              <a:rPr lang="ru-RU" sz="2000" dirty="0">
                <a:solidFill>
                  <a:srgbClr val="F2F2F2"/>
                </a:solidFill>
                <a:latin typeface="Actay Wide Bd" pitchFamily="50" charset="-52"/>
              </a:rPr>
              <a:t> — 10 тестов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начальная расстановка шашек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корректные и некорректные ходы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обязательное и последовательное взятие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превращение шашки в дамку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определение победителя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24716AC-49A8-49C5-B7E5-7D1AE055AFF9}"/>
              </a:ext>
            </a:extLst>
          </p:cNvPr>
          <p:cNvSpPr/>
          <p:nvPr/>
        </p:nvSpPr>
        <p:spPr>
          <a:xfrm>
            <a:off x="6377129" y="2214707"/>
            <a:ext cx="5469471" cy="423935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ru-RU" sz="2000" dirty="0" err="1">
                <a:solidFill>
                  <a:srgbClr val="F2F2F2"/>
                </a:solidFill>
                <a:latin typeface="Actay Wide Bd" pitchFamily="50" charset="-52"/>
              </a:rPr>
              <a:t>NetworkTests</a:t>
            </a:r>
            <a:r>
              <a:rPr lang="ru-RU" sz="2000" dirty="0">
                <a:solidFill>
                  <a:srgbClr val="F2F2F2"/>
                </a:solidFill>
                <a:latin typeface="Actay Wide Bd" pitchFamily="50" charset="-52"/>
              </a:rPr>
              <a:t> — 8 тестов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сериализация</a:t>
            </a: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 сетевых сообщений в JSON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сообщения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move</a:t>
            </a: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,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connect</a:t>
            </a: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,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newGame</a:t>
            </a: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,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disconnect</a:t>
            </a:r>
            <a:endParaRPr lang="ru-RU" dirty="0">
              <a:solidFill>
                <a:srgbClr val="F2F2F2"/>
              </a:solidFill>
              <a:latin typeface="Actay Light" pitchFamily="50" charset="-52"/>
            </a:endParaRP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передача хода через локальное TCP-соединение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обработка потери соединения</a:t>
            </a:r>
          </a:p>
        </p:txBody>
      </p:sp>
    </p:spTree>
    <p:extLst>
      <p:ext uri="{BB962C8B-B14F-4D97-AF65-F5344CB8AC3E}">
        <p14:creationId xmlns:p14="http://schemas.microsoft.com/office/powerpoint/2010/main" val="3150834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436729-BD74-449F-83F9-36D4A654DE69}"/>
              </a:ext>
            </a:extLst>
          </p:cNvPr>
          <p:cNvSpPr txBox="1"/>
          <p:nvPr/>
        </p:nvSpPr>
        <p:spPr>
          <a:xfrm>
            <a:off x="345403" y="289969"/>
            <a:ext cx="11346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F2F2F2"/>
                </a:solidFill>
                <a:latin typeface="AKONY" pitchFamily="50" charset="-52"/>
              </a:rPr>
              <a:t>Итог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C945B-8405-46F2-942C-3C4846D12326}"/>
              </a:ext>
            </a:extLst>
          </p:cNvPr>
          <p:cNvSpPr txBox="1"/>
          <p:nvPr/>
        </p:nvSpPr>
        <p:spPr>
          <a:xfrm>
            <a:off x="345403" y="1417487"/>
            <a:ext cx="11346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В результате был разработан учебный проект </a:t>
            </a:r>
            <a:r>
              <a:rPr lang="ru-RU" b="1" dirty="0">
                <a:solidFill>
                  <a:srgbClr val="F2F2F2"/>
                </a:solidFill>
                <a:latin typeface="Actay Light" pitchFamily="50" charset="-52"/>
              </a:rPr>
              <a:t>«Шашки по сети»</a:t>
            </a: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 — настольное приложение для игры двух пользователей через локальное TCP-соединение. Приложение позволяет создать сервер, подключиться к нему и провести партию с проверкой правил.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35078-BF28-4406-833D-BEE3140E781F}"/>
              </a:ext>
            </a:extLst>
          </p:cNvPr>
          <p:cNvSpPr txBox="1"/>
          <p:nvPr/>
        </p:nvSpPr>
        <p:spPr>
          <a:xfrm>
            <a:off x="345403" y="2840937"/>
            <a:ext cx="5649303" cy="2127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Wide Bd" pitchFamily="50" charset="-52"/>
              </a:rPr>
              <a:t>Что реализовано: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игровое поле 8x8 и начальная расстановка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проверка ходов, взятий, дамок и победителя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сетевой обмен ходами через TCP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обработка ошибок и потери соединения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206187-FF6A-48B5-9ED9-8A9D071D3768}"/>
              </a:ext>
            </a:extLst>
          </p:cNvPr>
          <p:cNvSpPr txBox="1"/>
          <p:nvPr/>
        </p:nvSpPr>
        <p:spPr>
          <a:xfrm>
            <a:off x="6568373" y="2840937"/>
            <a:ext cx="5123518" cy="2127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Wide Bd" pitchFamily="50" charset="-52"/>
              </a:rPr>
              <a:t>Что подготовлено: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проектная и техническая документация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модульные и сетевые тесты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публикация приложения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- установщик через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Inno</a:t>
            </a:r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 </a:t>
            </a:r>
            <a:r>
              <a:rPr lang="ru-RU" dirty="0" err="1">
                <a:solidFill>
                  <a:srgbClr val="F2F2F2"/>
                </a:solidFill>
                <a:latin typeface="Actay Light" pitchFamily="50" charset="-52"/>
              </a:rPr>
              <a:t>Setup</a:t>
            </a:r>
            <a:endParaRPr lang="ru-RU" dirty="0">
              <a:solidFill>
                <a:srgbClr val="F2F2F2"/>
              </a:solidFill>
              <a:latin typeface="Actay Light" pitchFamily="50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D6A23-F0AA-4B1C-AEF3-A5E18A420706}"/>
              </a:ext>
            </a:extLst>
          </p:cNvPr>
          <p:cNvSpPr txBox="1"/>
          <p:nvPr/>
        </p:nvSpPr>
        <p:spPr>
          <a:xfrm>
            <a:off x="345403" y="5838838"/>
            <a:ext cx="11346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2F2F2"/>
                </a:solidFill>
                <a:latin typeface="Actay Light" pitchFamily="50" charset="-52"/>
              </a:rPr>
              <a:t>Проект показывает полный цикл разработки ПО: от требований и проектирования до реализации, тестирования, публикации и подготовки установщика.</a:t>
            </a:r>
          </a:p>
        </p:txBody>
      </p:sp>
    </p:spTree>
    <p:extLst>
      <p:ext uri="{BB962C8B-B14F-4D97-AF65-F5344CB8AC3E}">
        <p14:creationId xmlns:p14="http://schemas.microsoft.com/office/powerpoint/2010/main" val="4231613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135657-A5B1-499B-9637-551823C9E4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A64048-3939-4212-A02A-0C8EE3C93B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1" y="0"/>
            <a:ext cx="342900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BF90B1-334C-43AC-BED1-139F1D8FF2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95"/>
          <a:stretch/>
        </p:blipFill>
        <p:spPr>
          <a:xfrm>
            <a:off x="3756507" y="4518279"/>
            <a:ext cx="4678987" cy="23397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AD68A2-9D33-4F6F-80C3-B9BFE3A83903}"/>
              </a:ext>
            </a:extLst>
          </p:cNvPr>
          <p:cNvSpPr txBox="1"/>
          <p:nvPr/>
        </p:nvSpPr>
        <p:spPr>
          <a:xfrm>
            <a:off x="3424377" y="3013501"/>
            <a:ext cx="5343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F2F2F2"/>
                </a:solidFill>
                <a:latin typeface="AKONY" pitchFamily="50" charset="-52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9135167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571</Words>
  <Application>Microsoft Office PowerPoint</Application>
  <PresentationFormat>Широкоэкранный</PresentationFormat>
  <Paragraphs>130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Actay Light</vt:lpstr>
      <vt:lpstr>Actay Wide Bd</vt:lpstr>
      <vt:lpstr>AKONY</vt:lpstr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Иван</dc:creator>
  <cp:lastModifiedBy>Иван</cp:lastModifiedBy>
  <cp:revision>18</cp:revision>
  <dcterms:created xsi:type="dcterms:W3CDTF">2026-06-04T17:51:58Z</dcterms:created>
  <dcterms:modified xsi:type="dcterms:W3CDTF">2026-06-04T20:29:09Z</dcterms:modified>
</cp:coreProperties>
</file>